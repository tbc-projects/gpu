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3.wmf" ContentType="image/x-wmf"/>
  <Override PartName="/ppt/media/image1.wmf" ContentType="image/x-wmf"/>
  <Override PartName="/ppt/media/image2.wmf" ContentType="image/x-wmf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4" r:id="rId3"/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Master" Target="slideMasters/slideMaster1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image" Target="../media/image3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wmf"/><Relationship Id="rId3" Type="http://schemas.openxmlformats.org/officeDocument/2006/relationships/image" Target="../media/image4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7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8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7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6.png"/><Relationship Id="rId4" Type="http://schemas.openxmlformats.org/officeDocument/2006/relationships/image" Target="../media/image7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<Relationship Id="rId4" Type="http://schemas.openxmlformats.org/officeDocument/2006/relationships/image" Target="../media/image7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7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.wmf"/><Relationship Id="rId3" Type="http://schemas.openxmlformats.org/officeDocument/2006/relationships/image" Target="../media/image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Slide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960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BLACK, 50 PT.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732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8640"/>
            <a:ext cx="2413440" cy="210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2072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TITLE HERE </a:t>
            </a:r>
            <a:br>
              <a:rPr sz="5000"/>
            </a:b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ENCODE NORMAL BLACK, 50 PT.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8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732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Subheader + Content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47840" y="37152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12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lt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pic>
        <p:nvPicPr>
          <p:cNvPr id="15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Content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47840" y="36972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17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4320" cy="236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  <a:def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  <a:def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  <a:def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  <a:def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  <a:def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FFFFFF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FFFFFF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FFFFFF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lt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lt2"/>
              </a:solidFill>
              <a:effectLst/>
              <a:uFillTx/>
              <a:latin typeface="Open Sans"/>
            </a:endParaRPr>
          </a:p>
        </p:txBody>
      </p:sp>
      <p:pic>
        <p:nvPicPr>
          <p:cNvPr id="19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er + Graphic">
    <p:bg>
      <p:bgPr>
        <a:solidFill>
          <a:srgbClr val="4B2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60440" y="370800"/>
            <a:ext cx="81817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1720" cy="2825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rgbClr val="FFFFFF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rgbClr val="FFFFFF"/>
              </a:solidFill>
              <a:effectLst/>
              <a:uFillTx/>
              <a:latin typeface="Open Sans Light"/>
            </a:endParaRPr>
          </a:p>
        </p:txBody>
      </p:sp>
      <p:pic>
        <p:nvPicPr>
          <p:cNvPr id="23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2072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5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9520" y="3426480"/>
            <a:ext cx="159444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9000"/>
            <a:ext cx="2413440" cy="20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Only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960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29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9520" y="3426480"/>
            <a:ext cx="159444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817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3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720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36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817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38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720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4320" cy="236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40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bg>
      <p:bgPr>
        <a:solidFill>
          <a:srgbClr val="E2CA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60440" y="381600"/>
            <a:ext cx="816948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42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5840" y="1363680"/>
            <a:ext cx="108720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17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pic>
        <p:nvPicPr>
          <p:cNvPr id="44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2072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46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732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599000"/>
            <a:ext cx="2422440" cy="21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702072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TITLE HERE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ENCODE NORMAL</a:t>
            </a:r>
            <a:br>
              <a:rPr sz="5000"/>
            </a:b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BLACK, 50 PT. </a:t>
            </a:r>
            <a:endParaRPr lang="en-US" sz="5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0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68080" y="3426480"/>
            <a:ext cx="1597320" cy="13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5680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4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defRPr>
            </a:lvl1pPr>
          </a:lstStyle>
          <a:p>
            <a:pPr indent="0" algn="l" defTabSz="457200">
              <a:lnSpc>
                <a:spcPct val="9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SUB-HEADER HERE (UNI SANS REGULAR,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57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60440" y="370800"/>
            <a:ext cx="81817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59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47840" y="1730520"/>
            <a:ext cx="8194320" cy="2363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def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  <a:def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  <a:def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  <a:def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4pPr>
            <a:lvl5pPr lvl="4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  <a:def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Content here (Open Sans Bold, 24 pt.)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Arial"/>
              <a:buChar char="–"/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Second level (Open Sans Bold, 20)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Third level (Open Sans Bold, 18)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4B2E83"/>
              </a:buClr>
              <a:buFont typeface="Arial"/>
              <a:buChar char="–"/>
            </a:pPr>
            <a:r>
              <a:rPr lang="en-US" sz="16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Fourth level (Open Sans Bold, 16)</a:t>
            </a:r>
            <a:endParaRPr lang="en-US" sz="1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281"/>
              </a:spcBef>
              <a:buClr>
                <a:srgbClr val="4B2E83"/>
              </a:buClr>
              <a:buFont typeface="Lucida Grande"/>
              <a:buChar char="&gt;"/>
            </a:pPr>
            <a:r>
              <a:rPr lang="en-US" sz="1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Fifth level (Open Sans Bold, 14)</a:t>
            </a:r>
            <a:endParaRPr lang="en-US" sz="1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61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7484040" y="4219920"/>
            <a:ext cx="1368720" cy="920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60440" y="369720"/>
            <a:ext cx="816948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HEADER HERE </a:t>
            </a:r>
            <a:br>
              <a:rPr sz="3000"/>
            </a:b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(ENCODE NORMAL BLACK, 30 PT.)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pic>
        <p:nvPicPr>
          <p:cNvPr id="63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49000" y="1363680"/>
            <a:ext cx="1100880" cy="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47840" y="1725120"/>
            <a:ext cx="8181720" cy="2958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Graphics can go here – </a:t>
            </a:r>
            <a:br>
              <a:rPr sz="2400"/>
            </a:b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Open Sans Light"/>
              </a:rPr>
              <a:t>replace this box with your image or chart</a:t>
            </a:r>
            <a:endParaRPr lang="en-US" sz="2400" b="0" i="1" u="none" strike="noStrike">
              <a:solidFill>
                <a:schemeClr val="dk1"/>
              </a:solidFill>
              <a:effectLst/>
              <a:uFillTx/>
              <a:latin typeface="Open Sans Light"/>
            </a:endParaRPr>
          </a:p>
        </p:txBody>
      </p:sp>
      <p:pic>
        <p:nvPicPr>
          <p:cNvPr id="65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104880" y="4675680"/>
            <a:ext cx="2537280" cy="169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  <p:sldLayoutId id="2147483659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60440" y="645120"/>
            <a:ext cx="6969600" cy="2638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000" b="1" u="none" strike="noStrike">
                <a:solidFill>
                  <a:schemeClr val="lt2"/>
                </a:solidFill>
                <a:effectLst/>
                <a:uFillTx/>
                <a:latin typeface="Encode Sans Normal Black"/>
                <a:ea typeface="Encode Sans Normal Black"/>
              </a:rPr>
              <a:t>GPU Architecture meeting 2</a:t>
            </a:r>
            <a:endParaRPr lang="en-US" sz="5000" b="1" u="none" strike="noStrike">
              <a:solidFill>
                <a:schemeClr val="lt2"/>
              </a:solidFill>
              <a:effectLst/>
              <a:uFillTx/>
              <a:latin typeface="Encode Sans Normal Black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Additional Hardware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As promised last time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389520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Decoder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Changes N width input into 2</a:t>
            </a:r>
            <a:r>
              <a:rPr lang="en-US" sz="2000" b="1" u="none" strike="noStrike" baseline="33000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 </a:t>
            </a: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width, with single bit enabled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Useful for selecting one of 2</a:t>
            </a:r>
            <a:r>
              <a:rPr lang="en-US" sz="2000" b="1" u="none" strike="noStrike" baseline="33000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 </a:t>
            </a: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from N bits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70" name=""/>
          <p:cNvPicPr/>
          <p:nvPr/>
        </p:nvPicPr>
        <p:blipFill>
          <a:blip r:embed="rId1"/>
          <a:stretch/>
        </p:blipFill>
        <p:spPr>
          <a:xfrm>
            <a:off x="4329720" y="1504080"/>
            <a:ext cx="4480560" cy="2514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Additional Hardware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Hugely important!!!!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45367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D- FlipFlop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Holds onto input for whole clock cycle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Takes new input @ (positive or negative) clock edge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Enables a lot of computing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5257800" y="1828800"/>
            <a:ext cx="3657240" cy="327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"/>
          <p:cNvPicPr/>
          <p:nvPr/>
        </p:nvPicPr>
        <p:blipFill>
          <a:blip r:embed="rId2"/>
          <a:stretch/>
        </p:blipFill>
        <p:spPr>
          <a:xfrm>
            <a:off x="5334480" y="368640"/>
            <a:ext cx="3351960" cy="136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Today’s Goals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Learn all about the next pieces of our processor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Instructions and Instruction Cycle</a:t>
            </a: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	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What/why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Instruction set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Registers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ALU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Exercise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What does this number mean?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marL="343080" indent="0" algn="ctr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10001011000000100000000001000001</a:t>
            </a:r>
            <a:endParaRPr lang="en-US" sz="2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Binary Refresher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0 and 1 only, pay attention to places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marL="343080" indent="0" algn="ctr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80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1101 </a:t>
            </a:r>
            <a:endParaRPr lang="en-US" sz="8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To understand what number this is, we can take a sum of 2</a:t>
            </a:r>
            <a:r>
              <a:rPr lang="en-US" sz="2000" b="1" u="none" strike="noStrike" baseline="33000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x</a:t>
            </a: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, where x is the place of the number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Binary Refresher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0 and 1 only, pay attention to places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87" name="PlaceHolder 20"/>
          <p:cNvSpPr/>
          <p:nvPr/>
        </p:nvSpPr>
        <p:spPr>
          <a:xfrm>
            <a:off x="447840" y="2320560"/>
            <a:ext cx="819432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We have a 1 in the zero’s, two’s, and three’s places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So we can sum this as (1)2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0</a:t>
            </a: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+ (0)2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1</a:t>
            </a: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+ (1)2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2</a:t>
            </a: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+ (1)2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1296000" lvl="2" indent="-288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1 + 0 + 4 + 8 = 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  <p:graphicFrame>
        <p:nvGraphicFramePr>
          <p:cNvPr id="88" name=""/>
          <p:cNvGraphicFramePr/>
          <p:nvPr/>
        </p:nvGraphicFramePr>
        <p:xfrm>
          <a:off x="2032560" y="2500920"/>
          <a:ext cx="5075280" cy="802800"/>
        </p:xfrm>
        <a:graphic>
          <a:graphicData uri="http://schemas.openxmlformats.org/drawingml/2006/table">
            <a:tbl>
              <a:tblPr/>
              <a:tblGrid>
                <a:gridCol w="1014840"/>
                <a:gridCol w="1014840"/>
                <a:gridCol w="1014840"/>
                <a:gridCol w="1014840"/>
                <a:gridCol w="1016280"/>
              </a:tblGrid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Place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01400"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Value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Binary Refresher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What about negative numbers?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91" name="PlaceHolder 25"/>
          <p:cNvSpPr/>
          <p:nvPr/>
        </p:nvSpPr>
        <p:spPr>
          <a:xfrm>
            <a:off x="491760" y="2093760"/>
            <a:ext cx="819432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Sign Magnitude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Most Significant Bit denotes sign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Rest denotes magnitude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" indent="-324000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Two’s Complement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Read the same, but different process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Flip all bits, add 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864000" lvl="1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This is how most computers do it because it makes subtraction (more on this later)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Binary Refresher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1101 can be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94" name="PlaceHolder 28"/>
          <p:cNvSpPr/>
          <p:nvPr/>
        </p:nvSpPr>
        <p:spPr>
          <a:xfrm>
            <a:off x="447840" y="2320560"/>
            <a:ext cx="8194320" cy="224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Read as is: 1101 = 13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" indent="-324000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Sign Magnitude: 1101 = - (2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2</a:t>
            </a: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+2</a:t>
            </a:r>
            <a:r>
              <a:rPr lang="en-US" sz="2000" b="0" u="none" strike="noStrike" baseline="33000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0</a:t>
            </a: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) = -5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" indent="-324000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Two’s Complement: 1101 = - (0010 + 1) = - (0011) = -3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marL="216000" indent="-324000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2"/>
                </a:solidFill>
                <a:effectLst/>
                <a:uFillTx/>
                <a:latin typeface="Calibri"/>
                <a:ea typeface="Open Sans"/>
              </a:rPr>
              <a:t> For our purposes, use online converters if necessary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  <a:p>
            <a:pPr defTabSz="4572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Exercise (cont.)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Maybe we know what this is now?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6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10001011000000100000000001000001</a:t>
            </a:r>
            <a:endParaRPr lang="en-US" sz="26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Maybe it’s negative?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SM: -184680513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2’s comp: -1962803135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Or maybe this isn’t just a really big number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98" name=""/>
          <p:cNvSpPr/>
          <p:nvPr/>
        </p:nvSpPr>
        <p:spPr>
          <a:xfrm>
            <a:off x="914400" y="2753640"/>
            <a:ext cx="2835000" cy="21744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oto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Assembly Languages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Processor’s toolbox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464040" y="1938600"/>
            <a:ext cx="5038200" cy="202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Near 1:1 with machine code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Still kind of human readable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Designed and licensed out for processor dev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Intel’s x86, ARMv8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AMD RDNA and NVIDIA PTX for GPUs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Instruction Set Architecture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Every Instruction the processor can do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6172200" y="473760"/>
            <a:ext cx="2076840" cy="181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"/>
          <p:cNvPicPr/>
          <p:nvPr/>
        </p:nvPicPr>
        <p:blipFill>
          <a:blip r:embed="rId2"/>
          <a:stretch/>
        </p:blipFill>
        <p:spPr>
          <a:xfrm>
            <a:off x="5546160" y="2569320"/>
            <a:ext cx="3368880" cy="190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Assembly Languages cont.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Basics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5038200" cy="2022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Opcode – binary designated as a instruction type, bit width varies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ADD, SUB, for example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Rd, Rm, Rn – Register operands 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</a:t>
            </a:r>
            <a:r>
              <a:rPr lang="en-US" sz="1800" b="1" u="sng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</a:t>
            </a: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is the </a:t>
            </a:r>
            <a:r>
              <a:rPr lang="en-US" sz="1800" b="1" u="sng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d</a:t>
            </a: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estination 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</a:t>
            </a:r>
            <a:r>
              <a:rPr lang="en-US" sz="1800" b="1" u="sng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</a:t>
            </a: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and R</a:t>
            </a:r>
            <a:r>
              <a:rPr lang="en-US" sz="1800" b="1" u="sng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m</a:t>
            </a: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are sources (nth, mth)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When written, registers denoted as X(number of register)</a:t>
            </a:r>
            <a:endParaRPr lang="en-US" sz="1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Exercise (cont.)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maybe this is assembly?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marL="343080" indent="0" algn="ctr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8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10001011000000100000000001000001</a:t>
            </a:r>
            <a:endParaRPr lang="en-US" sz="28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Exercise (cont.)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maybe this is assembly? (ARM) 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[10001011000][00010][000000][00010][00001]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     Opcode][   Rm][ Shamt][   Rn][   Rd]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        ADD][     ][      ][     ][     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" dur="indefinite" restart="never" nodeType="tmRoot">
          <p:childTnLst>
            <p:seq>
              <p:cTn id="8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Exercise (cont.)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So maybe this is assembly? (ARM) 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[10001011000][00010][000000][00010][00001]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     Opcode][   Rm][ Shamt][   Rn][   Rd]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[        ADD][   X2][     0][   X2][   X1]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This is written in ARM as: 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ctr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ADD X1, X2, X2</a:t>
            </a: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br>
              <a:rPr sz="2200"/>
            </a:br>
            <a:r>
              <a:rPr lang="en-US" sz="2200" b="1" u="none" strike="noStrike">
                <a:solidFill>
                  <a:schemeClr val="dk2"/>
                </a:solidFill>
                <a:effectLst/>
                <a:uFillTx/>
                <a:latin typeface="FreeMono"/>
                <a:ea typeface="Open Sans"/>
              </a:rPr>
              <a:t>{ADD X1, X2, X2</a:t>
            </a:r>
            <a:endParaRPr lang="en-US" sz="22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" dur="indefinite" restart="never" nodeType="tmRoot">
          <p:childTnLst>
            <p:seq>
              <p:cTn id="18" dur="indefinite" nodeType="mainSeq">
                <p:childTnLst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Expanding on the Instruction Cycle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Parts of a task that a computer needs to complete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447840" y="23202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Instruction Fetch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Register / Decode 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Execute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Memory access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Write back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Instruction Fetch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All instructions are kept in what’s called instruction memory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57200" y="25146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Essentially a queue of instructions to be completed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Pull a new one every clock cycle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400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Length of instruction depends on design</a:t>
            </a:r>
            <a:endParaRPr lang="en-US" sz="20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Registers/Decode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Given an instruction from ifetch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457200" y="25146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Continuously hold data across clock cycles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From 2</a:t>
            </a:r>
            <a:r>
              <a:rPr lang="en-US" sz="2400" b="1" u="none" strike="noStrike" baseline="33000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 </a:t>
            </a: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registers, output the data from one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Be able to single out a register out of 2</a:t>
            </a:r>
            <a:r>
              <a:rPr lang="en-US" sz="2400" b="1" u="none" strike="noStrike" baseline="33000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N</a:t>
            </a: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to write to from N bits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Execute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60440" y="1730520"/>
            <a:ext cx="8181720" cy="408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457200">
              <a:lnSpc>
                <a:spcPct val="9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2"/>
                </a:solidFill>
                <a:effectLst/>
                <a:uFillTx/>
                <a:latin typeface="Uni Sans Regular"/>
                <a:ea typeface="Uni Sans Regular"/>
              </a:rPr>
              <a:t>Given two data inputs of [ ] length + the instruction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457200" y="2514600"/>
            <a:ext cx="8194320" cy="2248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Correctly compute addition, subtraction, and logical operations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Raise flags given correct circumstance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4B2E83"/>
              </a:buClr>
              <a:buFont typeface="Lucida Grande"/>
              <a:buChar char="&gt;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2"/>
                </a:solidFill>
                <a:effectLst/>
                <a:uFillTx/>
                <a:latin typeface="Open Sans"/>
                <a:ea typeface="Open Sans"/>
              </a:rPr>
              <a:t> Select output based on encoded instruction</a:t>
            </a:r>
            <a:endParaRPr lang="en-US" sz="2400" b="1" u="none" strike="noStrike">
              <a:solidFill>
                <a:schemeClr val="dk2"/>
              </a:solidFill>
              <a:effectLst/>
              <a:uFillTx/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47840" y="369360"/>
            <a:ext cx="8194320" cy="990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chemeClr val="dk1"/>
                </a:solidFill>
                <a:effectLst/>
                <a:uFillTx/>
                <a:latin typeface="Encode Sans Normal Black"/>
                <a:ea typeface="Encode Sans Normal Black"/>
              </a:rPr>
              <a:t>Team split</a:t>
            </a:r>
            <a:endParaRPr lang="en-US" sz="3000" b="1" u="none" strike="noStrike">
              <a:solidFill>
                <a:schemeClr val="dk1"/>
              </a:solidFill>
              <a:effectLst/>
              <a:uFillTx/>
              <a:latin typeface="Encode Sans Normal Black"/>
            </a:endParaRPr>
          </a:p>
        </p:txBody>
      </p:sp>
      <p:graphicFrame>
        <p:nvGraphicFramePr>
          <p:cNvPr id="129" name=""/>
          <p:cNvGraphicFramePr/>
          <p:nvPr/>
        </p:nvGraphicFramePr>
        <p:xfrm>
          <a:off x="550800" y="1650960"/>
          <a:ext cx="8240760" cy="2360880"/>
        </p:xfrm>
        <a:graphic>
          <a:graphicData uri="http://schemas.openxmlformats.org/drawingml/2006/table">
            <a:tbl>
              <a:tblPr/>
              <a:tblGrid>
                <a:gridCol w="4115880"/>
                <a:gridCol w="4125240"/>
              </a:tblGrid>
              <a:tr h="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All together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pPr algn="ctr"/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 gridSpan="2">
                  <a:txBody>
                    <a:bodyPr lIns="36000" tIns="36000" rIns="36000" bIns="36000" anchor="t" anchorCtr="1">
                      <a:noAutofit/>
                    </a:bodyPr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Decide ISA (instruction dimension impacts every other decision)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marL="216000" indent="-216000"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36000" tIns="36000" rIns="36000" bIns="36000" anchor="t" anchorCtr="1">
                      <a:noAutofit/>
                    </a:bodyPr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Register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 anchorCtr="1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ALU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13240"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Make Registers that hold data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Make Mux that selects and outputs data from register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Make decoder that selects a register to write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Make logic necessary for arithmetic (adder), and any desired logic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  <a:p>
                      <a:pPr marL="216000" indent="-216000">
                        <a:lnSpc>
                          <a:spcPct val="100000"/>
                        </a:lnSpc>
                        <a:buClr>
                          <a:srgbClr val="000000"/>
                        </a:buClr>
                        <a:buSzPct val="45000"/>
                        <a:buFont typeface="Wingdings" charset="2"/>
                        <a:buChar char=""/>
                      </a:pPr>
                      <a:r>
                        <a:rPr lang="en-US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Noto Serif"/>
                        </a:rPr>
                        <a:t>Make mux that chooses output</a:t>
                      </a:r>
                      <a:endParaRPr lang="en-US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Noto Serif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2878</TotalTime>
  <Application>LibreOffice/26.2.0.3$Linux_X86_64 LibreOffice_project/620$Build-3</Application>
  <AppVersion>15.0000</AppVersion>
  <Words>201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2014-10-14T00:51:43Z</dcterms:created>
  <dc:creator>Alanya Cannon</dc:creator>
  <dc:description/>
  <dc:language>en-US</dc:language>
  <cp:lastModifiedBy/>
  <dcterms:modified xsi:type="dcterms:W3CDTF">2026-02-18T10:47:08Z</dcterms:modified>
  <cp:revision>40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4</vt:i4>
  </property>
</Properties>
</file>